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744900ac3463b" /><Relationship Type="http://schemas.openxmlformats.org/officeDocument/2006/relationships/extended-properties" Target="/docProps/app.xml" Id="R244159781aae4cd3" /><Relationship Type="http://schemas.openxmlformats.org/officeDocument/2006/relationships/officeDocument" Target="/ppt/presentation.xml" Id="Rd2b39ed4929e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76bf4cedd4a7d"/>
  </p:sldMasterIdLst>
  <p:notesMasterIdLst>
    <p:notesMasterId xmlns:r="http://schemas.openxmlformats.org/officeDocument/2006/relationships" r:id="R93e7ce79c8da4bb8"/>
  </p:notesMasterIdLst>
  <p:sldIdLst>
    <p:sldId xmlns:r="http://schemas.openxmlformats.org/officeDocument/2006/relationships" id="256" r:id="R07c851957cee43e2"/>
    <p:sldId xmlns:r="http://schemas.openxmlformats.org/officeDocument/2006/relationships" id="257" r:id="Re6c17cb34d1b49b7"/>
    <p:sldId xmlns:r="http://schemas.openxmlformats.org/officeDocument/2006/relationships" id="258" r:id="Rbe08c422d447409f"/>
    <p:sldId xmlns:r="http://schemas.openxmlformats.org/officeDocument/2006/relationships" id="259" r:id="R00370c7f95c64b90"/>
    <p:sldId xmlns:r="http://schemas.openxmlformats.org/officeDocument/2006/relationships" id="260" r:id="Rde5d25b921de43be"/>
    <p:sldId xmlns:r="http://schemas.openxmlformats.org/officeDocument/2006/relationships" id="261" r:id="Rd4c138d305114119"/>
    <p:sldId xmlns:r="http://schemas.openxmlformats.org/officeDocument/2006/relationships" id="262" r:id="R5088d3f47a7d4954"/>
    <p:sldId xmlns:r="http://schemas.openxmlformats.org/officeDocument/2006/relationships" id="263" r:id="Re554f011aeb2418c"/>
    <p:sldId xmlns:r="http://schemas.openxmlformats.org/officeDocument/2006/relationships" id="264" r:id="R805f610100234adf"/>
    <p:sldId xmlns:r="http://schemas.openxmlformats.org/officeDocument/2006/relationships" id="265" r:id="Rc87e881761a644c1"/>
    <p:sldId xmlns:r="http://schemas.openxmlformats.org/officeDocument/2006/relationships" id="266" r:id="R8f38d76e86de46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3870f8d62b49de" /><Relationship Type="http://schemas.openxmlformats.org/officeDocument/2006/relationships/slideMaster" Target="/ppt/slideMasters/slideMaster1.xml" Id="R7ef76bf4cedd4a7d" /><Relationship Type="http://schemas.openxmlformats.org/officeDocument/2006/relationships/notesMaster" Target="/ppt/notesMasters/notesMaster1.xml" Id="R93e7ce79c8da4bb8" /><Relationship Type="http://schemas.openxmlformats.org/officeDocument/2006/relationships/presProps" Target="/ppt/presProps.xml" Id="Re9f24b26f4de4361" /><Relationship Type="http://schemas.openxmlformats.org/officeDocument/2006/relationships/tableStyles" Target="/ppt/tableStyles.xml" Id="R3a148a2c419d4253" /><Relationship Type="http://schemas.openxmlformats.org/officeDocument/2006/relationships/slide" Target="/ppt/slides/slide1.xml" Id="R07c851957cee43e2" /><Relationship Type="http://schemas.openxmlformats.org/officeDocument/2006/relationships/slide" Target="/ppt/slides/slide2.xml" Id="Re6c17cb34d1b49b7" /><Relationship Type="http://schemas.openxmlformats.org/officeDocument/2006/relationships/slide" Target="/ppt/slides/slide3.xml" Id="Rbe08c422d447409f" /><Relationship Type="http://schemas.openxmlformats.org/officeDocument/2006/relationships/slide" Target="/ppt/slides/slide4.xml" Id="R00370c7f95c64b90" /><Relationship Type="http://schemas.openxmlformats.org/officeDocument/2006/relationships/slide" Target="/ppt/slides/slide5.xml" Id="Rde5d25b921de43be" /><Relationship Type="http://schemas.openxmlformats.org/officeDocument/2006/relationships/slide" Target="/ppt/slides/slide6.xml" Id="Rd4c138d305114119" /><Relationship Type="http://schemas.openxmlformats.org/officeDocument/2006/relationships/slide" Target="/ppt/slides/slide7.xml" Id="R5088d3f47a7d4954" /><Relationship Type="http://schemas.openxmlformats.org/officeDocument/2006/relationships/slide" Target="/ppt/slides/slide8.xml" Id="Re554f011aeb2418c" /><Relationship Type="http://schemas.openxmlformats.org/officeDocument/2006/relationships/slide" Target="/ppt/slides/slide9.xml" Id="R805f610100234adf" /><Relationship Type="http://schemas.openxmlformats.org/officeDocument/2006/relationships/slide" Target="/ppt/slides/slide10.xml" Id="Rc87e881761a644c1" /><Relationship Type="http://schemas.openxmlformats.org/officeDocument/2006/relationships/slide" Target="/ppt/slides/slide11.xml" Id="R8f38d76e86de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e9e7f331545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9e0b06311245dc" /><Relationship Type="http://schemas.openxmlformats.org/officeDocument/2006/relationships/notesMaster" Target="/ppt/notesMasters/notesMaster1.xml" Id="R54423bd3c4e14f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0bc14121e43fd" /><Relationship Type="http://schemas.openxmlformats.org/officeDocument/2006/relationships/notesMaster" Target="/ppt/notesMasters/notesMaster1.xml" Id="R25b30f8b736c41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9282e56f72492a" /><Relationship Type="http://schemas.openxmlformats.org/officeDocument/2006/relationships/notesMaster" Target="/ppt/notesMasters/notesMaster1.xml" Id="Rb2dee17ac58a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57eb25fa44640" /><Relationship Type="http://schemas.openxmlformats.org/officeDocument/2006/relationships/notesMaster" Target="/ppt/notesMasters/notesMaster1.xml" Id="Rc7c6379fccab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58c372e12e4703" /><Relationship Type="http://schemas.openxmlformats.org/officeDocument/2006/relationships/notesMaster" Target="/ppt/notesMasters/notesMaster1.xml" Id="R577965153d7742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95980027642cd" /><Relationship Type="http://schemas.openxmlformats.org/officeDocument/2006/relationships/notesMaster" Target="/ppt/notesMasters/notesMaster1.xml" Id="R31470ab4503d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73c3730e8c44a8" /><Relationship Type="http://schemas.openxmlformats.org/officeDocument/2006/relationships/notesMaster" Target="/ppt/notesMasters/notesMaster1.xml" Id="R387290cc474e41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38cb508f94072" /><Relationship Type="http://schemas.openxmlformats.org/officeDocument/2006/relationships/notesMaster" Target="/ppt/notesMasters/notesMaster1.xml" Id="R4d171ceb9ab5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fd99f7dd4541e7" /><Relationship Type="http://schemas.openxmlformats.org/officeDocument/2006/relationships/notesMaster" Target="/ppt/notesMasters/notesMaster1.xml" Id="R45b1f824652f49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d56c38e2b14ce9" /><Relationship Type="http://schemas.openxmlformats.org/officeDocument/2006/relationships/notesMaster" Target="/ppt/notesMasters/notesMaster1.xml" Id="Rffe846ed435b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8a6101510b4f40" /><Relationship Type="http://schemas.openxmlformats.org/officeDocument/2006/relationships/notesMaster" Target="/ppt/notesMasters/notesMaster1.xml" Id="R6a49c33918d8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Nomes e RMs extraídos da documentação técnica da Sprint 1 fornecida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Data MongoDB: https://docs.spring.io/spring-data/mongodb/reference/index.html</a:t>
            </a:r>
          </a:p>
          <a:p xmlns:a="http://schemas.openxmlformats.org/drawingml/2006/main">
            <a:r>
              <a:t>Gemini generateContent: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produtividade é média simples dos percentuais informados. A redução de custos não é somada novamente ao retorno. Projetos excluídos não entram nos totais; cancelados podem conter custos realizados.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Integração implementada por generateContent: https://ai.google.dev/api/generate-content. Disponibilidade e cota dependem da conta. A chamada real ao provedor ainda não foi validada nesta entrega. Sem chave o backend retorna 503; falhas externas retornam 502.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Todas as rotas usam o prefixo /api. Consultar Documentacao-Sprint2.pdf e ENDPOINTS.md. O contrato OpenAPI está em /v3/api-docs.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backend usa Spring Data MongoDB, não JPA/Hibernate. A equipe deve confirmar a interpretação do enunciado com o professor. O APK foi compilado; não há alegação de teste manual completo em dispositivo.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67ae4c797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9a686b34e41d4" /><Relationship Type="http://schemas.openxmlformats.org/officeDocument/2006/relationships/slideLayout" Target="/ppt/slideLayouts/slideLayout1.xml" Id="Rfc868793a8dd49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68793a8dd49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16a18639a4dbc" /><Relationship Type="http://schemas.openxmlformats.org/officeDocument/2006/relationships/notesSlide" Target="/ppt/notesSlides/notesSlide1.xml" Id="R0e86b6582ceb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0480bbeda4987" /><Relationship Type="http://schemas.openxmlformats.org/officeDocument/2006/relationships/notesSlide" Target="/ppt/notesSlides/notesSlide2.xml" Id="Rd5175c8bde6542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ea789efd942e4" /><Relationship Type="http://schemas.openxmlformats.org/officeDocument/2006/relationships/notesSlide" Target="/ppt/notesSlides/notesSlide3.xml" Id="R01fdd5e526b64c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67e6884f1403e" /><Relationship Type="http://schemas.openxmlformats.org/officeDocument/2006/relationships/notesSlide" Target="/ppt/notesSlides/notesSlide4.xml" Id="R9aef38705c54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c6424e924ec6" /><Relationship Type="http://schemas.openxmlformats.org/officeDocument/2006/relationships/notesSlide" Target="/ppt/notesSlides/notesSlide5.xml" Id="R868f86a577a9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e5251458c42e8" /><Relationship Type="http://schemas.openxmlformats.org/officeDocument/2006/relationships/notesSlide" Target="/ppt/notesSlides/notesSlide6.xml" Id="Rf982949742d149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84c499e954c6c" /><Relationship Type="http://schemas.openxmlformats.org/officeDocument/2006/relationships/notesSlide" Target="/ppt/notesSlides/notesSlide7.xml" Id="Rf60cbe80e02741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7683bc83c4d6a" /><Relationship Type="http://schemas.openxmlformats.org/officeDocument/2006/relationships/notesSlide" Target="/ppt/notesSlides/notesSlide8.xml" Id="R208b87852bc24a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c31e400224fdd" /><Relationship Type="http://schemas.openxmlformats.org/officeDocument/2006/relationships/notesSlide" Target="/ppt/notesSlides/notesSlide9.xml" Id="R5d3ea209e90f4d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8e71c2c249d0" /><Relationship Type="http://schemas.openxmlformats.org/officeDocument/2006/relationships/notesSlide" Target="/ppt/notesSlides/notesSlide10.xml" Id="Rcd565b698dce4d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df75808fa424f" /><Relationship Type="http://schemas.openxmlformats.org/officeDocument/2006/relationships/notesSlide" Target="/ppt/notesSlides/notesSlide11.xml" Id="R50fc5bba520341d2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213F75"/>
      </a:solidFill>
    </p:bgPr>
  </p:bg>
  <p:cSld>
    <p:bg>
      <p:bgPr>
        <a:solidFill>
          <a:srgbClr val="12335B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">
            <a:extLst>
              <a:ext uri="{FF2B5EF4-FFF2-40B4-BE49-F238E27FC236}">
                <ns2:creationId id="{99564C36-C649-4A3A-BDCE-1F183A321A78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VoaÁguia</a:t>
            </a:r>
          </a:p>
        </p:txBody>
      </p:sp>
      <p:sp>
        <p:nvSpPr>
          <p:cNvPr id="2" name="">
            <a:extLst>
              <a:ext uri="{FF2B5EF4-FFF2-40B4-BE49-F238E27FC236}">
                <ns2:creationId id="{79033F8F-2047-44B9-9FD0-CD8A8BD493F6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3" name="">
            <a:extLst>
              <a:ext uri="{FF2B5EF4-FFF2-40B4-BE49-F238E27FC236}">
                <ns2:creationId id="{DC34386C-39CB-4DF0-B7E1-065B1090E8B2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Plataforma de inovação corporativa</a:t>
            </a:r>
          </a:p>
        </p:txBody>
      </p:sp>
      <p:sp>
        <p:nvSpPr>
          <p:cNvPr id="4" name="">
            <a:extLst>
              <a:ext uri="{FF2B5EF4-FFF2-40B4-BE49-F238E27FC236}">
                <ns2:creationId id="{6E8D25E8-2937-4E75-9532-B3FA7E91A970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F5"/>
                </a:solidFill>
                <a:latin typeface="Arial"/>
                <a:ea typeface="Arial"/>
                <a:cs typeface="Arial"/>
              </a:rPr>
              <a:t>Challenge Grupo Águia Branca • FIAP • 2026</a:t>
            </a:r>
          </a:p>
        </p:txBody>
      </p:sp>
      <p:sp>
        <p:nvSpPr>
          <p:cNvPr id="900" name="Accent magenta"/>
          <p:cNvSpPr/>
          <p:nvPr/>
        </p:nvSpPr>
        <p:spPr>
          <a:solidFill>
            <a:srgbClr val="E91A6A"/>
          </a:solidFill>
          <a:xfrm>
            <a:off x="11580000" y="0"/>
            <a:ext cx="112000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Accent azul"/>
          <p:cNvSpPr/>
          <p:nvPr/>
        </p:nvSpPr>
        <p:spPr>
          <a:solidFill>
            <a:srgbClr val="3A72B7"/>
          </a:solidFill>
          <a:xfrm>
            <a:off x="10850000" y="0"/>
            <a:ext cx="300000" cy="685800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2020987390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F9DD279-C718-4B72-B834-B0C795FFB309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Equipe</a:t>
            </a:r>
          </a:p>
        </p:txBody>
      </p:sp>
      <p:sp>
        <p:nvSpPr>
          <p:cNvPr id="2" name="">
            <a:extLst>
              <a:ext uri="{FF2B5EF4-FFF2-40B4-BE49-F238E27FC236}">
                <ns2:creationId id="{83986F8E-EC0D-427F-B8D3-FAFC1E470CDE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Davi Simplicio Nunes Coelho — RM 564403</a:t>
            </a:r>
          </a:p>
        </p:txBody>
      </p:sp>
      <p:sp>
        <p:nvSpPr>
          <p:cNvPr id="3" name="">
            <a:extLst>
              <a:ext uri="{FF2B5EF4-FFF2-40B4-BE49-F238E27FC236}">
                <ns2:creationId id="{D586AFCD-4A27-471C-A035-FB210EAFEFA1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Guilherme Vinicius Gonçalves da Silva — RM 564401</a:t>
            </a:r>
          </a:p>
        </p:txBody>
      </p:sp>
      <p:sp>
        <p:nvSpPr>
          <p:cNvPr id="4" name="">
            <a:extLst>
              <a:ext uri="{FF2B5EF4-FFF2-40B4-BE49-F238E27FC236}">
                <ns2:creationId id="{926D8794-1AE9-4677-BF06-8F9EB1563B8E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Gustavo Okamoto Ventura — RM 564945</a:t>
            </a:r>
          </a:p>
        </p:txBody>
      </p:sp>
      <p:sp>
        <p:nvSpPr>
          <p:cNvPr id="5" name="">
            <a:extLst>
              <a:ext uri="{FF2B5EF4-FFF2-40B4-BE49-F238E27FC236}">
                <ns2:creationId id="{712DAEAE-F927-4F66-A2D0-4C27F7DDB7A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Mirella Ayumi Miyakawa — RM 564426</a:t>
            </a:r>
          </a:p>
        </p:txBody>
      </p:sp>
      <p:sp>
        <p:nvSpPr>
          <p:cNvPr id="6" name="">
            <a:extLst>
              <a:ext uri="{FF2B5EF4-FFF2-40B4-BE49-F238E27FC236}">
                <ns2:creationId id="{23C01CC5-86CE-488D-B050-00745F49421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34148112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9FAC2F40-20B3-41DC-8700-D62D51C6DA45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Escopo da Sprint 2</a:t>
            </a:r>
          </a:p>
        </p:txBody>
      </p:sp>
      <p:sp>
        <p:nvSpPr>
          <p:cNvPr id="2" name="">
            <a:extLst>
              <a:ext uri="{FF2B5EF4-FFF2-40B4-BE49-F238E27FC236}">
                <ns2:creationId id="{4D973F87-0789-461B-8BC4-3E2A4C729829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Aplicativo Android nativo integrado às APIs REST.</a:t>
            </a:r>
          </a:p>
        </p:txBody>
      </p:sp>
      <p:sp>
        <p:nvSpPr>
          <p:cNvPr id="3" name="">
            <a:extLst>
              <a:ext uri="{FF2B5EF4-FFF2-40B4-BE49-F238E27FC236}">
                <ns2:creationId id="{41F19BF6-0A3A-48FE-B1CB-81490F41562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Backend Java com autenticação e restrições por perfil.</a:t>
            </a:r>
          </a:p>
        </p:txBody>
      </p:sp>
      <p:sp>
        <p:nvSpPr>
          <p:cNvPr id="4" name="">
            <a:extLst>
              <a:ext uri="{FF2B5EF4-FFF2-40B4-BE49-F238E27FC236}">
                <ns2:creationId id="{66DD401E-3464-4F43-9A01-4B46E4AB1043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MongoDB real para estratégias, ideias e projetos.</a:t>
            </a:r>
          </a:p>
        </p:txBody>
      </p:sp>
      <p:sp>
        <p:nvSpPr>
          <p:cNvPr id="5" name="">
            <a:extLst>
              <a:ext uri="{FF2B5EF4-FFF2-40B4-BE49-F238E27FC236}">
                <ns2:creationId id="{1D323200-9866-4259-8D9A-09AFE8BAEA4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Análise com IA e indicadores calculados no servidor.</a:t>
            </a:r>
          </a:p>
        </p:txBody>
      </p:sp>
      <p:sp>
        <p:nvSpPr>
          <p:cNvPr id="6" name="">
            <a:extLst>
              <a:ext uri="{FF2B5EF4-FFF2-40B4-BE49-F238E27FC236}">
                <ns2:creationId id="{C095DF99-3198-4FB8-B495-2BC946D615D2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70829917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">
            <a:extLst>
              <a:ext uri="{FF2B5EF4-FFF2-40B4-BE49-F238E27FC236}">
                <ns2:creationId id="{564E8EC2-699C-4150-9BBD-EC0CDFDBD7A9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Arquitetura do backend</a:t>
            </a:r>
          </a:p>
        </p:txBody>
      </p:sp>
      <p:sp>
        <p:nvSpPr>
          <p:cNvPr id="2" name="">
            <a:extLst>
              <a:ext uri="{FF2B5EF4-FFF2-40B4-BE49-F238E27FC236}">
                <ns2:creationId id="{B78E585A-32C5-41F4-8404-0411F8835C5C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3F5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F526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>
              <a:ext uri="{FF2B5EF4-FFF2-40B4-BE49-F238E27FC236}">
                <ns2:creationId id="{F5D3A0B3-47D0-4A5A-8EE2-214BCE3A911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666750" y="2095500"/>
            <a:ext cx="2238375" cy="1095375"/>
          </a:xfrm>
          <a:prstGeom prst="rect">
            <a:avLst/>
          </a:prstGeom>
          <a:ln w="19050">
            <a:solidFill>
              <a:srgbClr val="3A72B7"/>
            </a:solidFill>
          </a:ln>
        </p:spPr>
      </p:sp>
      <p:sp>
        <p:nvSpPr>
          <p:cNvPr id="4" name="">
            <a:extLst>
              <a:ext uri="{FF2B5EF4-FFF2-40B4-BE49-F238E27FC236}">
                <ns2:creationId id="{AF5AB5A9-6834-4E8A-9430-16F85AE3FB7B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195262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3A72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72B7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5" name="">
            <a:extLst>
              <a:ext uri="{FF2B5EF4-FFF2-40B4-BE49-F238E27FC236}">
                <ns2:creationId id="{25DDF6D7-3F32-4EB6-A3C7-B235CCE4E860}"/>
              </a:ext>
            </a:extLst>
          </p:cNvPr>
          <p:cNvSpPr>
            <a:spLocks noGrp="1"/>
          </p:cNvSpPr>
          <p:nvPr/>
        </p:nvSpPr>
        <p:spPr>
          <a:xfrm>
            <a:off x="809625" y="2705100"/>
            <a:ext cx="1952625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Kotlin + Compose</a:t>
            </a:r>
          </a:p>
        </p:txBody>
      </p:sp>
      <p:sp>
        <p:nvSpPr>
          <p:cNvPr id="6" name="">
            <a:extLst>
              <a:ext uri="{FF2B5EF4-FFF2-40B4-BE49-F238E27FC236}">
                <ns2:creationId id="{AE4C6214-D844-4EDA-BCD9-E8649957A46A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3714750" y="2095500"/>
            <a:ext cx="2952750" cy="1095375"/>
          </a:xfrm>
          <a:prstGeom prst="rect">
            <a:avLst/>
          </a:prstGeom>
          <a:ln w="19050">
            <a:solidFill>
              <a:srgbClr val="3A72B7"/>
            </a:solidFill>
          </a:ln>
        </p:spPr>
      </p:sp>
      <p:sp>
        <p:nvSpPr>
          <p:cNvPr id="7" name="">
            <a:extLst>
              <a:ext uri="{FF2B5EF4-FFF2-40B4-BE49-F238E27FC236}">
                <ns2:creationId id="{D29640E7-0DA9-4F6B-86EE-073B979215E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3A72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72B7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8" name="">
            <a:extLst>
              <a:ext uri="{FF2B5EF4-FFF2-40B4-BE49-F238E27FC236}">
                <ns2:creationId id="{1FD93DFC-593D-423B-9F49-D8D1709C0BC7}"/>
              </a:ext>
            </a:extLst>
          </p:cNvPr>
          <p:cNvSpPr>
            <a:spLocks noGrp="1"/>
          </p:cNvSpPr>
          <p:nvPr/>
        </p:nvSpPr>
        <p:spPr>
          <a:xfrm>
            <a:off x="3857625" y="270510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Spring Security + JWT</a:t>
            </a:r>
          </a:p>
        </p:txBody>
      </p:sp>
      <p:sp>
        <p:nvSpPr>
          <p:cNvPr id="9" name="">
            <a:extLst>
              <a:ext uri="{FF2B5EF4-FFF2-40B4-BE49-F238E27FC236}">
                <ns2:creationId id="{65CA0B7F-A0F0-491C-8BBB-D0D3280F91E0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8001000" y="2095500"/>
            <a:ext cx="3238500" cy="1095375"/>
          </a:xfrm>
          <a:prstGeom prst="rect">
            <a:avLst/>
          </a:prstGeom>
          <a:ln w="19050">
            <a:solidFill>
              <a:srgbClr val="3A72B7"/>
            </a:solidFill>
          </a:ln>
        </p:spPr>
      </p:sp>
      <p:sp>
        <p:nvSpPr>
          <p:cNvPr id="10" name="">
            <a:extLst>
              <a:ext uri="{FF2B5EF4-FFF2-40B4-BE49-F238E27FC236}">
                <ns2:creationId id="{5867EA96-7E5D-4ADD-9E69-F4FAFB7C2972}"/>
              </a:ext>
            </a:extLst>
          </p:cNvPr>
          <p:cNvSpPr>
            <a:spLocks noGrp="1"/>
          </p:cNvSpPr>
          <p:nvPr/>
        </p:nvSpPr>
        <p:spPr>
          <a:xfrm>
            <a:off x="8143875" y="223837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3A72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72B7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11" name="">
            <a:extLst>
              <a:ext uri="{FF2B5EF4-FFF2-40B4-BE49-F238E27FC236}">
                <ns2:creationId id="{ED7BDA17-704B-4815-8167-38C2E7AB1D04}"/>
              </a:ext>
            </a:extLst>
          </p:cNvPr>
          <p:cNvSpPr>
            <a:spLocks noGrp="1"/>
          </p:cNvSpPr>
          <p:nvPr/>
        </p:nvSpPr>
        <p:spPr>
          <a:xfrm>
            <a:off x="8143875" y="27051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Documentos e histórico</a:t>
            </a:r>
          </a:p>
        </p:txBody>
      </p:sp>
      <p:sp>
        <p:nvSpPr>
          <p:cNvPr id="12" name="">
            <a:extLst>
              <a:ext uri="{FF2B5EF4-FFF2-40B4-BE49-F238E27FC236}">
                <ns2:creationId id="{59595DCA-5265-4BF8-A981-DB55B83145AD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3714750" y="4095750"/>
            <a:ext cx="2952750" cy="1095375"/>
          </a:xfrm>
          <a:prstGeom prst="rect">
            <a:avLst/>
          </a:prstGeom>
          <a:ln w="19050">
            <a:solidFill>
              <a:srgbClr val="3A72B7"/>
            </a:solidFill>
          </a:ln>
        </p:spPr>
      </p:sp>
      <p:sp>
        <p:nvSpPr>
          <p:cNvPr id="13" name="">
            <a:extLst>
              <a:ext uri="{FF2B5EF4-FFF2-40B4-BE49-F238E27FC236}">
                <ns2:creationId id="{15E5CCDA-46A7-4878-BB01-8F70747D8753}"/>
              </a:ext>
            </a:extLst>
          </p:cNvPr>
          <p:cNvSpPr>
            <a:spLocks noGrp="1"/>
          </p:cNvSpPr>
          <p:nvPr/>
        </p:nvSpPr>
        <p:spPr>
          <a:xfrm>
            <a:off x="3857625" y="42386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3A72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72B7"/>
                </a:solidFill>
                <a:latin typeface="Arial"/>
                <a:ea typeface="Arial"/>
                <a:cs typeface="Arial"/>
              </a:rPr>
              <a:t>Serviços</a:t>
            </a:r>
          </a:p>
        </p:txBody>
      </p:sp>
      <p:sp>
        <p:nvSpPr>
          <p:cNvPr id="14" name="">
            <a:extLst>
              <a:ext uri="{FF2B5EF4-FFF2-40B4-BE49-F238E27FC236}">
                <ns2:creationId id="{D14C7C87-E151-4D18-85A5-3B9F11907BBC}"/>
              </a:ext>
            </a:extLst>
          </p:cNvPr>
          <p:cNvSpPr>
            <a:spLocks noGrp="1"/>
          </p:cNvSpPr>
          <p:nvPr/>
        </p:nvSpPr>
        <p:spPr>
          <a:xfrm>
            <a:off x="3857625" y="470535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Regras e relatórios</a:t>
            </a:r>
          </a:p>
        </p:txBody>
      </p:sp>
      <p:sp>
        <p:nvSpPr>
          <p:cNvPr id="15" name="">
            <a:extLst>
              <a:ext uri="{FF2B5EF4-FFF2-40B4-BE49-F238E27FC236}">
                <ns2:creationId id="{B074D185-C4D3-4935-B59E-6A8EFE5A3F53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8001000" y="4095750"/>
            <a:ext cx="3238500" cy="1095375"/>
          </a:xfrm>
          <a:prstGeom prst="rect">
            <a:avLst/>
          </a:prstGeom>
          <a:ln w="19050">
            <a:solidFill>
              <a:srgbClr val="3A72B7"/>
            </a:solidFill>
          </a:ln>
        </p:spPr>
      </p:sp>
      <p:sp>
        <p:nvSpPr>
          <p:cNvPr id="16" name="">
            <a:extLst>
              <a:ext uri="{FF2B5EF4-FFF2-40B4-BE49-F238E27FC236}">
                <ns2:creationId id="{3AE7CFF7-3385-4057-8F62-28BCAFA38199}"/>
              </a:ext>
            </a:extLst>
          </p:cNvPr>
          <p:cNvSpPr>
            <a:spLocks noGrp="1"/>
          </p:cNvSpPr>
          <p:nvPr/>
        </p:nvSpPr>
        <p:spPr>
          <a:xfrm>
            <a:off x="8143875" y="4238625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3A72B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A72B7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17" name="">
            <a:extLst>
              <a:ext uri="{FF2B5EF4-FFF2-40B4-BE49-F238E27FC236}">
                <ns2:creationId id="{75E1020D-8598-4470-826E-196920EB0708}"/>
              </a:ext>
            </a:extLst>
          </p:cNvPr>
          <p:cNvSpPr>
            <a:spLocks noGrp="1"/>
          </p:cNvSpPr>
          <p:nvPr/>
        </p:nvSpPr>
        <p:spPr>
          <a:xfrm>
            <a:off x="8143875" y="47053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Análise e insights</a:t>
            </a:r>
          </a:p>
        </p:txBody>
      </p:sp>
      <p:sp>
        <p:nvSpPr>
          <p:cNvPr id="18" name="">
            <a:extLst>
              <a:ext uri="{FF2B5EF4-FFF2-40B4-BE49-F238E27FC236}">
                <ns2:creationId id="{95989459-C30C-490C-8A0D-A74EE4F2E322}"/>
              </a:ext>
            </a:extLst>
          </p:cNvPr>
          <p:cNvSpPr>
            <a:spLocks noGrp="1"/>
          </p:cNvSpPr>
          <p:nvPr/>
        </p:nvSpPr>
        <p:spPr>
          <a:xfrm>
            <a:off x="3028950" y="24288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>
              <a:ext uri="{FF2B5EF4-FFF2-40B4-BE49-F238E27FC236}">
                <ns2:creationId id="{175E8D91-74F7-486C-853D-06AC56015290}"/>
              </a:ext>
            </a:extLst>
          </p:cNvPr>
          <p:cNvSpPr>
            <a:spLocks noGrp="1"/>
          </p:cNvSpPr>
          <p:nvPr/>
        </p:nvSpPr>
        <p:spPr>
          <a:xfrm>
            <a:off x="7086600" y="24288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>
              <a:ext uri="{FF2B5EF4-FFF2-40B4-BE49-F238E27FC236}">
                <ns2:creationId id="{2A1099F3-783E-474E-BD29-1021E6E16E04}"/>
              </a:ext>
            </a:extLst>
          </p:cNvPr>
          <p:cNvSpPr>
            <a:spLocks noGrp="1"/>
          </p:cNvSpPr>
          <p:nvPr/>
        </p:nvSpPr>
        <p:spPr>
          <a:xfrm>
            <a:off x="4991100" y="3371850"/>
            <a:ext cx="523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1" name="">
            <a:extLst>
              <a:ext uri="{FF2B5EF4-FFF2-40B4-BE49-F238E27FC236}">
                <ns2:creationId id="{C2D88709-ED94-4B37-B1E6-F48FB94FF266}"/>
              </a:ext>
            </a:extLst>
          </p:cNvPr>
          <p:cNvSpPr>
            <a:spLocks noGrp="1"/>
          </p:cNvSpPr>
          <p:nvPr/>
        </p:nvSpPr>
        <p:spPr>
          <a:xfrm>
            <a:off x="7086600" y="44005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>
              <a:ext uri="{FF2B5EF4-FFF2-40B4-BE49-F238E27FC236}">
                <ns2:creationId id="{BF081F05-0676-4D00-83A0-05F5C43535DB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Controllers → Services → Repositories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792247817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5A701268-E3E3-46AD-BA3B-3B8875A6BCBD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Permissões por perfil</a:t>
            </a:r>
          </a:p>
        </p:txBody>
      </p:sp>
      <p:sp>
        <p:nvSpPr>
          <p:cNvPr id="2" name="">
            <a:extLst>
              <a:ext uri="{FF2B5EF4-FFF2-40B4-BE49-F238E27FC236}">
                <ns2:creationId id="{37FE626C-610E-466D-A4DB-688F48A1EC8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Operador: cadastra e acompanha ideias próprias; edita enquanto pendentes.</a:t>
            </a:r>
          </a:p>
        </p:txBody>
      </p:sp>
      <p:sp>
        <p:nvSpPr>
          <p:cNvPr id="3" name="">
            <a:extLst>
              <a:ext uri="{FF2B5EF4-FFF2-40B4-BE49-F238E27FC236}">
                <ns2:creationId id="{FC0E9743-FC42-4CD1-9B98-60377B16E19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Gestor: avalia ideias, prioriza propostas e gerencia projetos e resultados.</a:t>
            </a:r>
          </a:p>
        </p:txBody>
      </p:sp>
      <p:sp>
        <p:nvSpPr>
          <p:cNvPr id="4" name="">
            <a:extLst>
              <a:ext uri="{FF2B5EF4-FFF2-40B4-BE49-F238E27FC236}">
                <ns2:creationId id="{F8D47778-D8E8-4F6E-8F27-A0EDB459B83A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Líder: gerencia estratégias e consulta projetos e dashboard.</a:t>
            </a:r>
          </a:p>
        </p:txBody>
      </p:sp>
      <p:sp>
        <p:nvSpPr>
          <p:cNvPr id="5" name="">
            <a:extLst>
              <a:ext uri="{FF2B5EF4-FFF2-40B4-BE49-F238E27FC236}">
                <ns2:creationId id="{130832B8-0384-49F9-8CA9-BEAD3D892C8A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O backend verifica cada operação. Cadastro público cria apenas operadores.</a:t>
            </a:r>
          </a:p>
        </p:txBody>
      </p:sp>
      <p:sp>
        <p:nvSpPr>
          <p:cNvPr id="6" name="">
            <a:extLst>
              <a:ext uri="{FF2B5EF4-FFF2-40B4-BE49-F238E27FC236}">
                <ns2:creationId id="{430D014B-FC35-4925-989B-59BBDF8421AE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585859112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21B8089-77F0-461F-9AD7-76346FBD435B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Estratégia, ideia e projeto</a:t>
            </a:r>
          </a:p>
        </p:txBody>
      </p:sp>
      <p:sp>
        <p:nvSpPr>
          <p:cNvPr id="2" name="">
            <a:extLst>
              <a:ext uri="{FF2B5EF4-FFF2-40B4-BE49-F238E27FC236}">
                <ns2:creationId id="{3922834C-DEA8-4B91-8CCC-A2257CD702D7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Cada ideia indica uma estratégia vigente.</a:t>
            </a:r>
          </a:p>
        </p:txBody>
      </p:sp>
      <p:sp>
        <p:nvSpPr>
          <p:cNvPr id="3" name="">
            <a:extLst>
              <a:ext uri="{FF2B5EF4-FFF2-40B4-BE49-F238E27FC236}">
                <ns2:creationId id="{C2A31BCE-E5D1-4B56-9142-35E759388EF8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O projeto nasce de uma ideia aprovada e preserva a mesma estratégia.</a:t>
            </a:r>
          </a:p>
        </p:txBody>
      </p:sp>
      <p:sp>
        <p:nvSpPr>
          <p:cNvPr id="4" name="">
            <a:extLst>
              <a:ext uri="{FF2B5EF4-FFF2-40B4-BE49-F238E27FC236}">
                <ns2:creationId id="{DD233546-B1CF-4AEA-B35C-870FDC4C90E3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Estratégias mantêm data, categoria, campanha e histórico das versões.</a:t>
            </a:r>
          </a:p>
        </p:txBody>
      </p:sp>
      <p:sp>
        <p:nvSpPr>
          <p:cNvPr id="5" name="">
            <a:extLst>
              <a:ext uri="{FF2B5EF4-FFF2-40B4-BE49-F238E27FC236}">
                <ns2:creationId id="{D652DF78-8650-40C8-9D44-86F71AC968F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Votos únicos e pontuação calculada evitam benefícios por ações repetidas.</a:t>
            </a:r>
          </a:p>
        </p:txBody>
      </p:sp>
      <p:sp>
        <p:nvSpPr>
          <p:cNvPr id="6" name="">
            <a:extLst>
              <a:ext uri="{FF2B5EF4-FFF2-40B4-BE49-F238E27FC236}">
                <ns2:creationId id="{59F61553-C50E-4394-A57F-3B380808D39B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49072687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CE6F0AA9-9BF5-4EE8-ADDF-4E1A81780250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Segurança e sessão</a:t>
            </a:r>
          </a:p>
        </p:txBody>
      </p:sp>
      <p:sp>
        <p:nvSpPr>
          <p:cNvPr id="2" name="">
            <a:extLst>
              <a:ext uri="{FF2B5EF4-FFF2-40B4-BE49-F238E27FC236}">
                <ns2:creationId id="{61F80994-1206-4DF8-B4C2-DCCAC2EA2AF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BCrypt protege senhas; o backend assina JWT com expiração de 60 minutos.</a:t>
            </a:r>
          </a:p>
        </p:txBody>
      </p:sp>
      <p:sp>
        <p:nvSpPr>
          <p:cNvPr id="3" name="">
            <a:extLst>
              <a:ext uri="{FF2B5EF4-FFF2-40B4-BE49-F238E27FC236}">
                <ns2:creationId id="{4971C6E6-4C79-468A-9418-EE5E5196C6D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Logout revoga o token. O banco remove a revogação após a expiração.</a:t>
            </a:r>
          </a:p>
        </p:txBody>
      </p:sp>
      <p:sp>
        <p:nvSpPr>
          <p:cNvPr id="4" name="">
            <a:extLst>
              <a:ext uri="{FF2B5EF4-FFF2-40B4-BE49-F238E27FC236}">
                <ns2:creationId id="{C7C86E54-BAD5-40E9-9666-74EF8C7A2B6B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O Android mantém a sessão em memória e retorna ao login quando ela expira.</a:t>
            </a:r>
          </a:p>
        </p:txBody>
      </p:sp>
      <p:sp>
        <p:nvSpPr>
          <p:cNvPr id="5" name="">
            <a:extLst>
              <a:ext uri="{FF2B5EF4-FFF2-40B4-BE49-F238E27FC236}">
                <ns2:creationId id="{A8F65BFD-84A3-49CA-8937-0B25BE8F785B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 chave de IA fica no ambiente do servidor e não integra o APK.</a:t>
            </a:r>
          </a:p>
        </p:txBody>
      </p:sp>
      <p:sp>
        <p:nvSpPr>
          <p:cNvPr id="6" name="">
            <a:extLst>
              <a:ext uri="{FF2B5EF4-FFF2-40B4-BE49-F238E27FC236}">
                <ns2:creationId id="{36189391-5D17-42C2-AC79-1170CBEBB7A0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613553102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704437-32D3-48D2-AA67-5895394ED591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Resultados e indicadores</a:t>
            </a:r>
          </a:p>
        </p:txBody>
      </p:sp>
      <p:sp>
        <p:nvSpPr>
          <p:cNvPr id="2" name="">
            <a:extLst>
              <a:ext uri="{FF2B5EF4-FFF2-40B4-BE49-F238E27FC236}">
                <ns2:creationId id="{D04B2065-56D1-4442-A2B1-C89BA48F71DB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Dashboard com filtros por estratégia e projeto, além da visão geral.</a:t>
            </a:r>
          </a:p>
        </p:txBody>
      </p:sp>
      <p:sp>
        <p:nvSpPr>
          <p:cNvPr id="3" name="">
            <a:extLst>
              <a:ext uri="{FF2B5EF4-FFF2-40B4-BE49-F238E27FC236}">
                <ns2:creationId id="{F956C890-96D0-4305-A45F-8D9B728E382B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Lucro = retorno realizado − investimento.</a:t>
            </a:r>
          </a:p>
        </p:txBody>
      </p:sp>
      <p:sp>
        <p:nvSpPr>
          <p:cNvPr id="4" name="">
            <a:extLst>
              <a:ext uri="{FF2B5EF4-FFF2-40B4-BE49-F238E27FC236}">
                <ns2:creationId id="{AE2A9A7A-0245-4A47-B2D7-47C6696D3F9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ROI = lucro ÷ investimento × 100. Sem investimento: não aplicável.</a:t>
            </a:r>
          </a:p>
        </p:txBody>
      </p:sp>
      <p:sp>
        <p:nvSpPr>
          <p:cNvPr id="5" name="">
            <a:extLst>
              <a:ext uri="{FF2B5EF4-FFF2-40B4-BE49-F238E27FC236}">
                <ns2:creationId id="{CF3D18A8-A623-4E43-8C0F-D81EEEC9888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Redução de custos, produtividade média, progresso e prazos complementam a análise.</a:t>
            </a:r>
          </a:p>
        </p:txBody>
      </p:sp>
      <p:sp>
        <p:nvSpPr>
          <p:cNvPr id="6" name="">
            <a:extLst>
              <a:ext uri="{FF2B5EF4-FFF2-40B4-BE49-F238E27FC236}">
                <ns2:creationId id="{1C2CD2BF-163B-4CB7-8EA5-A369AADA7F06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43677651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8D40823E-7E3F-48B5-A63E-BF71FED8271E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Inteligência artificial</a:t>
            </a:r>
          </a:p>
        </p:txBody>
      </p:sp>
      <p:sp>
        <p:nvSpPr>
          <p:cNvPr id="2" name="">
            <a:extLst>
              <a:ext uri="{FF2B5EF4-FFF2-40B4-BE49-F238E27FC236}">
                <ns2:creationId id="{827FFEA4-5712-41EF-A1C4-84746BA775F9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Gemini recebe a ideia e seu contexto estratégico por meio do backend.</a:t>
            </a:r>
          </a:p>
        </p:txBody>
      </p:sp>
      <p:sp>
        <p:nvSpPr>
          <p:cNvPr id="3" name="">
            <a:extLst>
              <a:ext uri="{FF2B5EF4-FFF2-40B4-BE49-F238E27FC236}">
                <ns2:creationId id="{FBE2B026-C9AB-46BB-BC1F-24260D69FCA8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 análise sugere impacto, viabilidade, alinhamento e prioridade.</a:t>
            </a:r>
          </a:p>
        </p:txBody>
      </p:sp>
      <p:sp>
        <p:nvSpPr>
          <p:cNvPr id="4" name="">
            <a:extLst>
              <a:ext uri="{FF2B5EF4-FFF2-40B4-BE49-F238E27FC236}">
                <ns2:creationId id="{8E2BF16B-753C-434A-ABB4-BBE7C625AB56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Gestores decidem a aprovação; líderes podem pedir insights dos resultados.</a:t>
            </a:r>
          </a:p>
        </p:txBody>
      </p:sp>
      <p:sp>
        <p:nvSpPr>
          <p:cNvPr id="5" name="">
            <a:extLst>
              <a:ext uri="{FF2B5EF4-FFF2-40B4-BE49-F238E27FC236}">
                <ns2:creationId id="{4260919F-4051-48A3-944F-F4D59EC586B5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Modelo configurável: gemini-2.5-flash. A validação real exige uma nova chave.</a:t>
            </a:r>
          </a:p>
        </p:txBody>
      </p:sp>
      <p:sp>
        <p:nvSpPr>
          <p:cNvPr id="6" name="">
            <a:extLst>
              <a:ext uri="{FF2B5EF4-FFF2-40B4-BE49-F238E27FC236}">
                <ns2:creationId id="{86AF92C4-216E-4E50-AF75-65527E926D0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471413969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83FFD0F-5DC0-4DD7-8E8E-A7A149054DA2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Contrato da API — exemplos</a:t>
            </a:r>
          </a:p>
        </p:txBody>
      </p:sp>
      <p:sp>
        <p:nvSpPr>
          <p:cNvPr id="2" name="">
            <a:extLst>
              <a:ext uri="{FF2B5EF4-FFF2-40B4-BE49-F238E27FC236}">
                <ns2:creationId id="{7179C1CA-889D-441B-AEEF-CF981A8ED57E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Base /api • 28 operações • JSON • JWT Bearer nas rotas protegidas.</a:t>
            </a:r>
          </a:p>
        </p:txBody>
      </p:sp>
      <p:sp>
        <p:nvSpPr>
          <p:cNvPr id="3" name="">
            <a:extLst>
              <a:ext uri="{FF2B5EF4-FFF2-40B4-BE49-F238E27FC236}">
                <ns2:creationId id="{B5E00178-E99D-404F-BDCA-7DA292823B18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POST /auth/login: {email, password} → 200 {token, expiresAt, user}.</a:t>
            </a:r>
          </a:p>
        </p:txBody>
      </p:sp>
      <p:sp>
        <p:nvSpPr>
          <p:cNvPr id="4" name="">
            <a:extLst>
              <a:ext uri="{FF2B5EF4-FFF2-40B4-BE49-F238E27FC236}">
                <ns2:creationId id="{1E58F390-B4C7-407E-A678-052B670291FF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POST /ideas: {title, description, category, strategyId} → 201 ideia criada.</a:t>
            </a:r>
          </a:p>
        </p:txBody>
      </p:sp>
      <p:sp>
        <p:nvSpPr>
          <p:cNvPr id="5" name="">
            <a:extLst>
              <a:ext uri="{FF2B5EF4-FFF2-40B4-BE49-F238E27FC236}">
                <ns2:creationId id="{1866B9B9-3A62-4832-B0F0-410DA75B44BF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PATCH /ideas/{id}/review: {status, priority, feedback} → 200 ideia avaliada.</a:t>
            </a:r>
          </a:p>
        </p:txBody>
      </p:sp>
      <p:sp>
        <p:nvSpPr>
          <p:cNvPr id="6" name="">
            <a:extLst>
              <a:ext uri="{FF2B5EF4-FFF2-40B4-BE49-F238E27FC236}">
                <ns2:creationId id="{8A9A3DA6-95DC-4DBB-95DC-3B6ECF89E4E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75194273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bg>
    <p:bgPr>
      <a:solidFill>
        <a:srgbClr val="F6F8FC"/>
      </a:solidFill>
    </p:bgPr>
  </p:bg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D4811242-A478-49AE-975F-7B04EC7F3E04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13F7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F75"/>
                </a:solidFill>
                <a:latin typeface="Arial"/>
                <a:ea typeface="Arial"/>
                <a:cs typeface="Arial"/>
              </a:rPr>
              <a:t>Execução e evidências</a:t>
            </a:r>
          </a:p>
        </p:txBody>
      </p:sp>
      <p:sp>
        <p:nvSpPr>
          <p:cNvPr id="2" name="">
            <a:extLst>
              <a:ext uri="{FF2B5EF4-FFF2-40B4-BE49-F238E27FC236}">
                <ns2:creationId id="{966168DB-C59A-4EFF-B272-0577A4A5A119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1619250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Backend: 7 testes de integração com HTTP e MongoDB reais, sem falhas.</a:t>
            </a:r>
          </a:p>
        </p:txBody>
      </p:sp>
      <p:sp>
        <p:nvSpPr>
          <p:cNvPr id="3" name="">
            <a:extLst>
              <a:ext uri="{FF2B5EF4-FFF2-40B4-BE49-F238E27FC236}">
                <ns2:creationId id="{798E782D-9211-4558-9C23-373F57EDF117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2619375"/>
            <a:ext cx="10668000" cy="819150"/>
          </a:xfrm>
          <a:prstGeom prst="rect">
            <a:avLst/>
          </a:prstGeom>
          <a:ln w="19050">
            <a:solidFill>
              <a:srgbClr val="E91A6A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Android: build Debug e teste nativo com fluxo entre os três perfis.</a:t>
            </a:r>
          </a:p>
        </p:txBody>
      </p:sp>
      <p:sp>
        <p:nvSpPr>
          <p:cNvPr id="4" name="">
            <a:extLst>
              <a:ext uri="{FF2B5EF4-FFF2-40B4-BE49-F238E27FC236}">
                <ns2:creationId id="{6D5096E8-5DF7-44C7-9A58-D00C12442FD9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3619500"/>
            <a:ext cx="10668000" cy="819150"/>
          </a:xfrm>
          <a:prstGeom prst="rect">
            <a:avLst/>
          </a:prstGeom>
          <a:ln w="19050">
            <a:solidFill>
              <a:srgbClr val="213F75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APK: instalado em Pixel 9 (Android 16) e assinatura v2 verificada.</a:t>
            </a:r>
          </a:p>
        </p:txBody>
      </p:sp>
      <p:sp>
        <p:nvSpPr>
          <p:cNvPr id="5" name="">
            <a:extLst>
              <a:ext uri="{FF2B5EF4-FFF2-40B4-BE49-F238E27FC236}">
                <ns2:creationId id="{5768DE16-D25A-47AE-BE4A-9A362A6DD022}"/>
              </a:ext>
            </a:extLst>
          </p:cNvPr>
          <p:cNvSpPr>
            <a:spLocks noGrp="1"/>
          </p:cNvSpPr>
          <p:nvPr/>
        </p:nvSpPr>
        <p:spPr>
          <a:solidFill>
            <a:srgbClr val="FFFFFF"/>
          </a:solidFill>
          <a:xfrm>
            <a:off x="714375" y="4619625"/>
            <a:ext cx="10668000" cy="819150"/>
          </a:xfrm>
          <a:prstGeom prst="rect">
            <a:avLst/>
          </a:prstGeom>
          <a:ln w="19050">
            <a:solidFill>
              <a:srgbClr val="3A72B7"/>
            </a:solidFill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638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84A"/>
                </a:solidFill>
                <a:latin typeface="Arial"/>
                <a:ea typeface="Arial"/>
                <a:cs typeface="Arial"/>
              </a:rPr>
              <a:t>IA: endpoint Google Gemini implementado; chamada real requer chave válida no servidor.</a:t>
            </a:r>
          </a:p>
        </p:txBody>
      </p:sp>
      <p:sp>
        <p:nvSpPr>
          <p:cNvPr id="6" name="">
            <a:extLst>
              <a:ext uri="{FF2B5EF4-FFF2-40B4-BE49-F238E27FC236}">
                <ns2:creationId id="{6A41C449-71C2-4117-AF4B-D4B3691E18F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E91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1A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00" name="Faixa azul marinho"/>
          <p:cNvSpPr/>
          <p:nvPr/>
        </p:nvSpPr>
        <p:spPr>
          <a:solidFill>
            <a:srgbClr val="213F75"/>
          </a:solidFill>
          <a:xfrm>
            <a:off x="0" y="0"/>
            <a:ext cx="285750" cy="6858000"/>
          </a:xfrm>
          <a:prstGeom prst="rect">
            <a:avLst/>
          </a:prstGeom>
          <a:ln w="0">
            <a:noFill/>
          </a:ln>
        </p:spPr>
      </p:sp>
      <p:sp>
        <p:nvSpPr>
          <p:cNvPr id="901" name="Linha azul"/>
          <p:cNvSpPr/>
          <p:nvPr/>
        </p:nvSpPr>
        <p:spPr>
          <a:solidFill>
            <a:srgbClr val="3A72B7"/>
          </a:solidFill>
          <a:xfrm>
            <a:off x="285750" y="0"/>
            <a:ext cx="11811000" cy="190500"/>
          </a:xfrm>
          <a:prstGeom prst="rect">
            <a:avLst/>
          </a:prstGeom>
          <a:ln w="0">
            <a:noFill/>
          </a:ln>
        </p:spPr>
      </p:sp>
      <p:sp>
        <p:nvSpPr>
          <p:cNvPr id="902" name="Marcador magenta"/>
          <p:cNvSpPr/>
          <p:nvPr/>
        </p:nvSpPr>
        <p:spPr>
          <a:solidFill>
            <a:srgbClr val="E91A6A"/>
          </a:solidFill>
          <a:xfrm>
            <a:off x="10953750" y="190500"/>
            <a:ext cx="1143000" cy="190500"/>
          </a:xfrm>
          <a:prstGeom prst="rect">
            <a:avLst/>
          </a:prstGeom>
          <a:ln w="0">
            <a:noFill/>
          </a:ln>
        </p:spPr>
      </p:sp>
      <p:sp>
        <p:nvSpPr>
          <p:cNvPr id="903" name="Sublinhado magenta"/>
          <p:cNvSpPr/>
          <p:nvPr/>
        </p:nvSpPr>
        <p:spPr>
          <a:solidFill>
            <a:srgbClr val="E91A6A"/>
          </a:solidFill>
          <a:xfrm>
            <a:off x="666750" y="1333500"/>
            <a:ext cx="2603500" cy="57150"/>
          </a:xfrm>
          <a:prstGeom prst="rect">
            <a:avLst/>
          </a:prstGeom>
          <a:ln w="0">
            <a:noFill/>
          </a:ln>
        </p:spPr>
      </p:sp>
    </p:spTree>
    <p:extLst>
      <p:ext uri="{BB962C8B-B14F-4D97-AF65-F5344CB8AC3E}">
        <ns3:creationId val="1690869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2026-09-20T23:23:31.4240000Z</dcterms:created>
  <dcterms:modified xsi:type="dcterms:W3CDTF">2026-09-20T23:23:31.4240000Z</dcterms:modified>
</coreProperties>
</file>